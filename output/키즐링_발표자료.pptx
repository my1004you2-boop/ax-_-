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FB3A6"/>
                </a:solidFill>
                <a:latin typeface="Consolas"/>
              </a:rPr>
              <a:t>AX 해커톤 · Problem 05 · 키즐링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FFFF"/>
                </a:solidFill>
                <a:latin typeface="Malgun Gothic"/>
              </a:rPr>
              <a:t>박람회 리드 50명, 후속 이메일에 8시간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F6A39"/>
                </a:solidFill>
                <a:latin typeface="Malgun Gothic"/>
              </a:rPr>
              <a:t>→ 직책별 맞춤 초안을 자동 생성하는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BD8CF"/>
                </a:solidFill>
                <a:latin typeface="Malgun Gothic"/>
              </a:rPr>
              <a:t>에듀테크 스타트업 키즐링의 박람회 후속 이메일 문제를 AX 해커톤 과제로 설계하고,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BD8CF"/>
                </a:solidFill>
                <a:latin typeface="Malgun Gothic"/>
              </a:rPr>
              <a:t>Basic → Standard → Challenge 3단계를 직접 실행해 참조 결과물까지 만들었습니다.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3977639"/>
            <a:ext cx="10911535" cy="0"/>
          </a:xfrm>
          <a:prstGeom prst="line">
            <a:avLst/>
          </a:prstGeom>
          <a:ln w="9525">
            <a:solidFill>
              <a:srgbClr val="2A38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4160520"/>
            <a:ext cx="33628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문제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33628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3A6"/>
                </a:solidFill>
                <a:latin typeface="Malgun Gothic"/>
              </a:rPr>
              <a:t>레벨 구조 · 데이터 · 채점기준 직접 수립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7258" y="4160520"/>
            <a:ext cx="33628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참조 솔루션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7258" y="4526280"/>
            <a:ext cx="33628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3A6"/>
                </a:solidFill>
                <a:latin typeface="Malgun Gothic"/>
              </a:rPr>
              <a:t>Claude Code Skill 4단계로 리드 50건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4436" y="4160520"/>
            <a:ext cx="33628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4436" y="4526280"/>
            <a:ext cx="33628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9FB3A6"/>
                </a:solidFill>
                <a:latin typeface="Malgun Gothic"/>
              </a:rPr>
              <a:t>100건 신규 CSV로 재현성까지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A6"/>
                </a:solidFill>
                <a:latin typeface="Consolas"/>
              </a:rPr>
              <a:t>0:00–0:30 표지·요약   0:30–1:30 문제이해   1:30–2:30 접근·의사결정   2:30–3:30 산출물 데모   3:30–4:15 임팩트   4:15–5:00 한계·확장·마무리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01 · 한 장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가장 바쁜 담당자가 이 장만 봐도 판단되도록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6035040" cy="19659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5532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“박람회에서 수집한 리드 명단을 분석해 직책별 소구점이 반영된 개인화 후속 이메일 초안을 생성한다. ①맞춤 인사 ②부스 상담내용 언급 ③직책별 소구점→제품 연결 ④명확한 CTA 4요소를 포함하고, 상담 메모가 비었거나 모호한 리드·이메일이 없는 리드는 예외 처리(review_flag)한다.”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4655C"/>
                </a:solidFill>
                <a:latin typeface="Malgun Gothic"/>
              </a:rPr>
              <a:t>— CLAUDE.md / problem.md 미션 원문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60350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 i="0">
                <a:solidFill>
                  <a:srgbClr val="132019"/>
                </a:solidFill>
                <a:latin typeface="Malgun Gothic"/>
              </a:rPr>
              <a:t>만든 것 — 리드 CSV를 넣으면 원장·팀장·사업개발 3직책이 서로 다른 소구점·CTA로 개인화된 이메일 초안과 예외 플래그를 자동 생성하는 Claude Code Skill (/analyze → /insight → /generate → /review) 파이프라인. 문제 자체도 이 구조에 맞춰 새로 설계했습니다.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1691640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8A2E10"/>
                </a:solidFill>
                <a:latin typeface="Consolas"/>
              </a:rPr>
              <a:t>8h → 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084831"/>
            <a:ext cx="1380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50건 수작업 8시간+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→ 파이프라인 1회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59368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69096" y="1691640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8A2E10"/>
                </a:solidFill>
                <a:latin typeface="Consolas"/>
              </a:rPr>
              <a:t>50 /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9096" y="2084831"/>
            <a:ext cx="1380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Basic 50건 처리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+ 재현성 테스트 100건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69296" y="160020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79024" y="1691640"/>
            <a:ext cx="1380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8A2E10"/>
                </a:solidFill>
                <a:latin typeface="Consolas"/>
              </a:rPr>
              <a:t>5 →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9024" y="2084831"/>
            <a:ext cx="13807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review_flag=Y 예외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4655C"/>
                </a:solidFill>
                <a:latin typeface="Malgun Gothic"/>
              </a:rPr>
              <a:t>정확 검출 (50건→100건)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8036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880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직책별 차별화 소구점·CTA 매핑 (원장/팀장/사업개발)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4107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34107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개인화 4요소 + review_flag 예외 처리 규칙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4106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394106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새 CSV 투입 재현성 검증 (50건 → 100건)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47141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447141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데이터 기반 후속 캠페인 기획안 2건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0017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54655C"/>
                </a:solidFill>
                <a:latin typeface="Malgun Gothic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50017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32019"/>
                </a:solidFill>
                <a:latin typeface="Malgun Gothic"/>
              </a:rPr>
              <a:t>실발송·CRM 연동·리드 스코어링 — 과제 스코프 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02 · 문제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“늦게 써서”가 아니라 “직책마다 다른 말을 못 해서” 놓치는 리드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4655C"/>
                </a:solidFill>
                <a:latin typeface="Malgun Gothic"/>
              </a:rPr>
              <a:t>키즐링 영업팀은 에듀플러스위크 같은 박람회에서 수십 명의 명함·상담 메모를 모으지만, 후속은 담당자 1인의 수작업입니다.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243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시간 폭발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리드 1명당 10~15분 → 50명이면 8시간 이상. 박람회 다음 날 담당자 1인이 감당 못 하는 물량이 쌓입니다.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4884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243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직책별 맥락 분기 미흡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원장은 “원생 효과”, 팀장은 “도입이 쉬운가”, 사업개발은 “수익 모델”을 묻는데 같은 톤의 이메일은 누구에게도 꽂히지 않습니다.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6052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360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상담 내용 휘발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부스에서 나눈 구체적인 대화가 이메일에 반영되지 않으면 “우리를 기억 못 하는 회사”라는 인상을 줍니다.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160520"/>
            <a:ext cx="525780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8A2E10"/>
                </a:solidFill>
                <a:latin typeface="Consolas"/>
              </a:rPr>
              <a:t>PAIN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360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32019"/>
                </a:solidFill>
                <a:latin typeface="Malgun Gothic"/>
              </a:rPr>
              <a:t>48시간 골든타임 이탈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29200"/>
            <a:ext cx="4800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박람회 후 48시간이 지나면 관심이 식고, 늦은 후속은 경쟁사에게 리드를 넘겨주는 것과 같습니다.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02 · 문제 이해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내가 재정의한 문제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6675120" cy="3566160"/>
          </a:xfrm>
          <a:prstGeom prst="roundRect">
            <a:avLst>
              <a:gd name="adj" fmla="val 5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3A3184"/>
                </a:solidFill>
                <a:latin typeface="Consolas"/>
              </a:rPr>
              <a:t>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1264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이건 “이메일 작성이 느리다”는 속도 문제가 아니라, 골든타임 48시간 안에 직책마다 다른 이야기를 할 수 있는가의 문제입니다.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겪는 사람: 영업 담당자 1인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겪는 시점: 매 박람회 직후 48시간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겪는 빈도: 박람회가 열릴 때마다 반복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/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132019"/>
                </a:solidFill>
                <a:latin typeface="Malgun Gothic"/>
              </a:rPr>
              <a:t>그래서 이번 과제는 “이메일 1건을 잘 쓰는 법”이 아니라 “매번 반복돼도 같은 품질로 도는 규칙”을 만드는 것으로 스코프를 잡았습니다.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4655C"/>
                </a:solidFill>
                <a:latin typeface="Malgun Gothic"/>
              </a:rPr>
              <a:t>업계 벤치마크 (개인화 효과)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680960" y="2011680"/>
          <a:ext cx="39319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280160"/>
              </a:tblGrid>
              <a:tr h="35433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수치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개인화 제목 → 오픈율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+26%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상담 내용 언급 → 응답률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+40%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직책 맞춤 소구점 → 클릭률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+15%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80960" y="361188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출처: industry-news.md 벤치마크(스티비·리캐치 등 인용)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키즐링 실측치 아님 — 목표 방향성 참고 지표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03 · 설계 &amp; 해결 접근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어떻게 풀기로 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4655C"/>
                </a:solidFill>
                <a:latin typeface="Malgun Gothic"/>
              </a:rPr>
              <a:t>1회성 프롬프트가 아니라 매 박람회마다 재사용 가능한 규칙으로 만들어야 실제 운영에 쓰인다는 가설로, 4단계 Skill 파이프라인을 설계했습니다.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37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1 · /analyze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5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리드 명단에서 직책·결측·중복을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먼저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7451" y="2880360"/>
            <a:ext cx="393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4655C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5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2 · /insight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직책마다 다른 이야기 방식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(소구점·CTA)을 정한다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9251" y="2880360"/>
            <a:ext cx="393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4655C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01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3 · /generate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01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리드별로 인사→상담언급→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제품연결→CTA 순서로 초안을 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1051" y="2880360"/>
            <a:ext cx="393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4655C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7" y="2286000"/>
            <a:ext cx="24688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1987" y="248716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4655C"/>
                </a:solidFill>
                <a:latin typeface="Consolas"/>
              </a:rPr>
              <a:t>STEP 4 · /review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1987" y="2880360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애매한 건 사람이 보게 표시하고,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발송 전 자가 점검한다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32019"/>
                </a:solidFill>
                <a:latin typeface="Malgun Gothic"/>
              </a:rPr>
              <a:t>파이프라인 설계 원칙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4655C"/>
                </a:solidFill>
                <a:latin typeface="Malgun Gothic"/>
              </a:rPr>
              <a:t>새 박람회 CSV를 넣어도 코드·설계를 바꾸지 않고 같은 4단계를 그대로 다시 돌리면 동일 품질의 초안이 나와야 한다 — 이 원칙이 이후 재현성 테스트(50건 → 100건)의 기준이 되었습니다.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03 · 설계 &amp; 해결 접근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막혔던 지점 &amp; 돌파, 그리고 버린 대안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764792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FBE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8A5C0E"/>
                </a:solidFill>
                <a:latin typeface="Consolas"/>
              </a:rPr>
              <a:t>막힌 지점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“원장”이라는 직함이 모든 기관에 안 맞았다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587752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title은 전부 “원장”인데 초등학교 교장·지역아동센터 센터장·태권도장 관장처럼 호칭 관례가 다른 3건을 발견. 세그먼트(소구점·CTA)는 그대로 두고 인사말 호칭만 자연스럽게 바꾸는 규칙으로 해결.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3368" y="1764792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FBE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8A5C0E"/>
                </a:solidFill>
                <a:latin typeface="Consolas"/>
              </a:rPr>
              <a:t>막힌 지점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재현성 테스트에서 처음 보는 직책이 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87752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100건 CSV에 교장·PM·주무관이 새로 등장. interest_feature까지 보정하는 2단계 매핑을 검토했지만 규칙이 복잡해져 재현성이 떨어질 위험 → title 단일 기준의 고정 매핑표로 단순화.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67328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3931920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3A3184"/>
                </a:solidFill>
                <a:latin typeface="Consolas"/>
              </a:rPr>
              <a:t>버린 대안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315968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전 직책 공통 CTA 단일화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754880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“상담 신청”처럼 하나로 통일하면 관리는 쉽지만 직책별 니즈 차이가 사라져 클릭률이 떨어질 것으로 판단해 폐기.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67328"/>
            <a:ext cx="5257800" cy="1965960"/>
          </a:xfrm>
          <a:prstGeom prst="roundRect">
            <a:avLst>
              <a:gd name="adj" fmla="val 5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3931920"/>
            <a:ext cx="823849" cy="274320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950" b="1" i="0">
                <a:solidFill>
                  <a:srgbClr val="3A3184"/>
                </a:solidFill>
                <a:latin typeface="Consolas"/>
              </a:rPr>
              <a:t>버린 대안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315968"/>
            <a:ext cx="485546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32019"/>
                </a:solidFill>
                <a:latin typeface="Malgun Gothic"/>
              </a:rPr>
              <a:t>title-note 불일치를 사람이 매번 재판단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754880"/>
            <a:ext cx="48554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80" b="0" i="0">
                <a:solidFill>
                  <a:srgbClr val="54655C"/>
                </a:solidFill>
                <a:latin typeface="Malgun Gothic"/>
              </a:rPr>
              <a:t>title과 상담 메모가 어긋난 리드를 그때그때 재해석하면 review_flag=Y 비율이 과도해지고 예측 불가능해져, title 기준을 고수.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03 · 설계 &amp; 해결 접근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AI에게 맡긴 것, 내가 직접 판단한 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C4C"/>
                </a:solidFill>
                <a:latin typeface="Consolas"/>
              </a:rPr>
              <a:t>AI(CLAUDE)에게 맡긴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0604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리드 50~100건의 문장을 각각 다르게 쓰는 반복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상담 메모를 자연스러운 한 문장으로 녹여 넣는 표현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434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4340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동일 규칙을 새 CSV에 그대로 적용하는 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257800" cy="3566160"/>
          </a:xfrm>
          <a:prstGeom prst="roundRect">
            <a:avLst>
              <a:gd name="adj" fmla="val 5000"/>
            </a:avLst>
          </a:prstGeom>
          <a:solidFill>
            <a:srgbClr val="F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08483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2E10"/>
                </a:solidFill>
                <a:latin typeface="Consolas"/>
              </a:rPr>
              <a:t>내가 직접 판단한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0604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직책별 소구점·CTA 매핑, 우선순위×직책 강도 매트릭스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7472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review_flag 판단 기준선(공란·모호 정의)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434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4480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호칭 예외, 신규 직책 매핑, 캠페인 세그먼트 선정 가중치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04 · 산출물 &amp; 실증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32019"/>
                </a:solidFill>
                <a:latin typeface="Malgun Gothic"/>
              </a:rPr>
              <a:t>실제로 이렇게 돌아갑니다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4655C"/>
                </a:solidFill>
                <a:latin typeface="Malgun Gothic"/>
              </a:rPr>
              <a:t>같은 부스, 같은 회사(키즐콘) 소개인데 직책에 따라 완전히 다른 이메일이 나옵니다. output/email_drafts.csv에서 그대로 가져온 실제 결과입니다.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6587" y="2011680"/>
            <a:ext cx="3520440" cy="40233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9467" y="2176272"/>
            <a:ext cx="1266443" cy="274320"/>
          </a:xfrm>
          <a:prstGeom prst="roundRect">
            <a:avLst>
              <a:gd name="adj" fmla="val 50000"/>
            </a:avLst>
          </a:prstGeom>
          <a:solidFill>
            <a:srgbClr val="F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1000" b="1" i="0">
                <a:solidFill>
                  <a:srgbClr val="8A2E10"/>
                </a:solidFill>
                <a:latin typeface="Consolas"/>
              </a:rPr>
              <a:t>L001 · 원장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257860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김민준 원장님, 매년 여는 영어스피치 대회를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자동화하는 방법 — 키즐콘 안내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3337560"/>
            <a:ext cx="31546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한빛영어학원 원생 180명 규모 영어스피치 대회를 수기로 진행하시느라 힘드시다는 말씀이 기억에 남습니다. 키즐콘은 접수·결제·심사·결과발표를 한 번에 자동화하고 발표 영상을 학부모님께 공유해 재등록률을 높입니다…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5532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32019"/>
                </a:solidFill>
                <a:latin typeface="Malgun Gothic"/>
              </a:rPr>
              <a:t>CTA · 무료 데모 신청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5627" y="2011680"/>
            <a:ext cx="3520440" cy="40233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18507" y="2176272"/>
            <a:ext cx="1266443" cy="274320"/>
          </a:xfrm>
          <a:prstGeom prst="roundRect">
            <a:avLst>
              <a:gd name="adj" fmla="val 50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1000" b="1" i="0">
                <a:solidFill>
                  <a:srgbClr val="0A5C4C"/>
                </a:solidFill>
                <a:latin typeface="Consolas"/>
              </a:rPr>
              <a:t>L022 · 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8507" y="257860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한승우 팀장님, 개발 공수를 최소화하는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연동 방법 — 키즐콘 안내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507" y="3337560"/>
            <a:ext cx="31546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자사 플랫폼과 키즐콘의 연동 난이도, 개발 공수 최소화가 중요하다고 하신 말씀을 들었습니다. 키즐콘은 API 기반으로 기존 워크플로에 쉽게 연동되어 개발 리소스를 크게 들이지 않고 기능을 붙일 수 있습니다…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507" y="5532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32019"/>
                </a:solidFill>
                <a:latin typeface="Malgun Gothic"/>
              </a:rPr>
              <a:t>CTA · 기술 도입 미팅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4667" y="2011680"/>
            <a:ext cx="3520440" cy="4023360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7547" y="2176272"/>
            <a:ext cx="1474723" cy="274320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/>
          <a:lstStyle/>
          <a:p>
            <a:pPr algn="ctr"/>
            <a:r>
              <a:rPr sz="1000" b="1" i="0">
                <a:solidFill>
                  <a:srgbClr val="3A3184"/>
                </a:solidFill>
                <a:latin typeface="Consolas"/>
              </a:rPr>
              <a:t>L039 · 사업개발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7547" y="2578608"/>
            <a:ext cx="3154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장민호님, 참가 기관 공동 공급</a:t>
            </a:r>
          </a:p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132019"/>
                </a:solidFill>
                <a:latin typeface="Malgun Gothic"/>
              </a:rPr>
              <a:t>파트너십 제안의 건 — 키즐콘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547" y="3337560"/>
            <a:ext cx="31546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참가 기관에 키즐콘을 공동 공급하는 파트너십 모델과 수익 배분 구조를 논의하고 싶다고 하신 말씀 감사했습니다. 공동 공급·공동 마케팅으로 함께 성장하는 파트너십을 그려볼 수 있습니다…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547" y="55321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32019"/>
                </a:solidFill>
                <a:latin typeface="Malgun Gothic"/>
              </a:rPr>
              <a:t>CTA · 파트너십 제안서 송부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04 · 산출물 &amp; 실증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애매한 리드는 지어내지 않고, 사람에게 넘깁니다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57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2377440"/>
          </a:xfrm>
          <a:prstGeom prst="rect">
            <a:avLst/>
          </a:prstGeom>
          <a:solidFill>
            <a:srgbClr val="C9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A5C0E"/>
                </a:solidFill>
                <a:latin typeface="Consolas"/>
              </a:rPr>
              <a:t>예외 처리 1 · 상담 메모 모호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L012 (원장) — 부스에서 짧게 인사만 나눠 구체적 니즈가 파악되지 않은 리드. 본문을 지어내지 않고 일반 소개 자료 발송으로 대체하며 review_flag = Y 처리, 사람이 보강 후 발송하도록 남겼습니다.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73152" cy="2377440"/>
          </a:xfrm>
          <a:prstGeom prst="rect">
            <a:avLst/>
          </a:prstGeom>
          <a:solidFill>
            <a:srgbClr val="C9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8A5C0E"/>
                </a:solidFill>
                <a:latin typeface="Consolas"/>
              </a:rPr>
              <a:t>예외 처리 2 · 이메일 결측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709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132019"/>
                </a:solidFill>
                <a:latin typeface="Malgun Gothic"/>
              </a:rPr>
              <a:t>L009 (원장) — 이메일이 없어 발송 자체가 금지된 리드. 실제 이메일 대신 [내부메모] 행으로 전환해 전화·방문 후속과 이메일 재확보를 권장하는 문구를 남기고 review_flag = Y 처리했습니다.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091153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4655C"/>
                </a:solidFill>
                <a:latin typeface="Malgun Gothic"/>
              </a:rPr>
              <a:t>review_flag 규칙은 “상담 메모가 공란·모호·결측”인 경우에만 Y이며, 나머지는 N으로 두어 AI가 무리하게 내용을 지어내지 않도록 제한했습니다 (human-in-the-loop 원칙).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05 · 임팩트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효과가 있나, 얼마나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1153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657600"/>
                <a:gridCol w="3687775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55C"/>
                          </a:solidFill>
                          <a:latin typeface="Malgun Gothic"/>
                        </a:rPr>
                        <a:t>핵심 지표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55C"/>
                          </a:solidFill>
                          <a:latin typeface="Malgun Gothic"/>
                        </a:rPr>
                        <a:t>Before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4655C"/>
                          </a:solidFill>
                          <a:latin typeface="Malgun Gothic"/>
                        </a:rPr>
                        <a:t>After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리드 50건 후속 이메일 작성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담당자 1인 수작업, 8시간 이상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파이프라인 1회 실행으로 초안 50건 자동 생성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직책별 메시지 분기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전 리드 동일 톤 (분기 없음)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원장·팀장·사업개발 소구점·CTA 100% 분기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예외(결측·모호·중복) 처리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사람이 매번 개별 판단, 누락 위험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규칙 고정 → review_flag 5건(50건)/10건(100건) 검출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새 리드 CSV 투입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처음부터 다시 작성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32019"/>
                          </a:solidFill>
                          <a:latin typeface="Malgun Gothic"/>
                        </a:rPr>
                        <a:t>코드·설계 변경 없이 100건 동일 품질 재현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343400"/>
            <a:ext cx="1091153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4655C"/>
                </a:solidFill>
                <a:latin typeface="Malgun Gothic"/>
              </a:rPr>
              <a:t>“8시간”은 리드당 10~15분 수기 작성 기준 업계 통상치를 적용한 추정이며 실측 시간이 아닙니다. 오픈율·응답률·클릭률 개선 폭은 업계 벤치마크로, 키즐링의 실제 발송 성과가 아닌 목표 방향성 지표입니다. review_flag 수치는 정의된 규칙(공란·모호·결측)을 CSV에 그대로 적용해 산출한 값입니다.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54864" cy="1371600"/>
          </a:xfrm>
          <a:prstGeom prst="rect">
            <a:avLst/>
          </a:prstGeom>
          <a:solidFill>
            <a:srgbClr val="D5D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05 · 임팩트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32019"/>
                </a:solidFill>
                <a:latin typeface="Malgun Gothic"/>
              </a:rPr>
              <a:t>재현성 검증 — 50건 → 100건, 같은 규칙 그대로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1153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566160"/>
                <a:gridCol w="4419295"/>
              </a:tblGrid>
              <a:tr h="5181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지표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Basic (leads_sample, 50건)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재현성 테스트 (100건)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이메일 결측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1건 (L009)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1건 (L016)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상담메모 결측·모호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4건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9건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review_flag=Y 총계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5건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10건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완전 중복 리드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1건 (L039=L050)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0건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신규 직책값 처리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해당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32019"/>
                          </a:solidFill>
                          <a:latin typeface="Malgun Gothic"/>
                        </a:rPr>
                        <a:t>교장 6 · PM 11 · 주무관 6 → 매핑 규칙대로 편입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074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54655C"/>
                </a:solidFill>
                <a:latin typeface="Malgun Gothic"/>
              </a:rPr>
              <a:t>동일 파이프라인·규칙(직책 매핑, 강도 매트릭스, review_flag 기준)을 코드/설계 변경 없이 그대로 적용해 100건 전체를 자동 처리 — “새 CSV를 넣어도 동일 품질” 재현성을 입증했습니다.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06 · 적용 가능성 &amp;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32019"/>
                </a:solidFill>
                <a:latin typeface="Malgun Gothic"/>
              </a:rPr>
              <a:t>데이터가 말해준 다음 캠페인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54655C"/>
                </a:solidFill>
                <a:latin typeface="Malgun Gothic"/>
              </a:rPr>
              <a:t>50건 리드 데이터에서 발견한 두 가지 강한 패턴을 캠페인으로 정리했습니다. 선정 기준: 세그먼트 규모×의향 40% · 계약 임팩트 40% · 골든타임 민감도 20% (직접 설계).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304288"/>
            <a:ext cx="1203960" cy="292608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 i="0">
                <a:solidFill>
                  <a:srgbClr val="3A3184"/>
                </a:solidFill>
                <a:latin typeface="Consolas"/>
              </a:rPr>
              <a:t>P0 · 90점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132019"/>
                </a:solidFill>
                <a:latin typeface="Malgun Gothic"/>
              </a:rPr>
              <a:t>에듀테크 팀장 연동·도입 데모 트랙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org_type=에듀테크기업 &amp; title=팀장 &amp; priority=상 (팀장 18명 중 '상' 비중 최다)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Day0 — 연동 중심 개인화 초안 발송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Day2 — 미응답 시 도입효과 자료 발송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628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Day5 — 기술 도입 미팅 제안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57799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근거 리드: L022 한승우 · L026 윤태경 · L035 김태현 — 골든타임 민감도 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03120"/>
            <a:ext cx="5257800" cy="3749039"/>
          </a:xfrm>
          <a:prstGeom prst="roundRect">
            <a:avLst>
              <a:gd name="adj" fmla="val 4000"/>
            </a:avLst>
          </a:prstGeom>
          <a:solidFill>
            <a:srgbClr val="EEF3F0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2304288"/>
            <a:ext cx="1203960" cy="292608"/>
          </a:xfrm>
          <a:prstGeom prst="roundRect">
            <a:avLst>
              <a:gd name="adj" fmla="val 50000"/>
            </a:avLst>
          </a:prstGeom>
          <a:solidFill>
            <a:srgbClr val="E7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 i="0">
                <a:solidFill>
                  <a:srgbClr val="3A3184"/>
                </a:solidFill>
                <a:latin typeface="Consolas"/>
              </a:rPr>
              <a:t>P1 · 80점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7249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132019"/>
                </a:solidFill>
                <a:latin typeface="Malgun Gothic"/>
              </a:rPr>
              <a:t>파트너십 BD 기관공급·공동마케팅 트랙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18688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title=사업개발 &amp; interest_feature=파트너십 (12명 전건, 100%)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Day0 — 파트너십 인사 + 제안서 예고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7880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Day3 — 수익배분모델 제안서 전달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62856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· Day7 — 사업개발 미팅 협의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257799"/>
            <a:ext cx="4800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근거 리드: L039/L050 장민호 · L044 신동욱 · L049 김선우 — 계약 임팩트 최고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06 · 적용 가능성 &amp; 확장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132019"/>
                </a:solidFill>
                <a:latin typeface="Malgun Gothic"/>
              </a:rPr>
              <a:t>정직한 한계, 그리고 다음 스텝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FF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A2E10"/>
                </a:solidFill>
                <a:latin typeface="Consolas"/>
              </a:rPr>
              <a:t>아쉬웠던 부분 (정직하게)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이번 스코프는 초안 생성까지라 실제 발송 후 오픈율·응답률 피드백 루프는 검증하지 못했습니다.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review_flag는 결측·모호를 걸러내지만, 걸리지 않는 미세한 표현 오차는 여전히 사람 눈검수가 필요합니다.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A2E10"/>
                </a:solidFill>
                <a:latin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title-note 불일치 같은 경계 케이스는 재현성을 위해 규칙을 단순하게 고수한 만큼 일부 개별 정확도를 희생했습니다.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257800" cy="3749039"/>
          </a:xfrm>
          <a:prstGeom prst="roundRect">
            <a:avLst>
              <a:gd name="adj" fmla="val 5000"/>
            </a:avLst>
          </a:prstGeom>
          <a:solidFill>
            <a:srgbClr val="DD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5C4C"/>
                </a:solidFill>
                <a:latin typeface="Consolas"/>
              </a:rPr>
              <a:t>2주 더 주어진다면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6888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review_flag=Y 리드를 사람이 빠르게 보강할 수 있는 최소 검토 워크플로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290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2900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실제 발송 후 오픈·응답 데이터를 소구점·CTA 규칙에 되먹이는 학습 루프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8912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A5C4C"/>
                </a:solidFill>
                <a:latin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38912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32019"/>
                </a:solidFill>
                <a:latin typeface="Malgun Gothic"/>
              </a:rPr>
              <a:t>P0/P1 캠페인 실행 후 성과 측정으로 우선순위 점수 산정 기준 재보정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FB3A6"/>
                </a:solidFill>
                <a:latin typeface="Consolas"/>
              </a:rPr>
              <a:t>07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Malgun Gothic"/>
              </a:rPr>
              <a:t>이 문제, 계속 맡아도 됩니다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5257800" cy="3291840"/>
          </a:xfrm>
          <a:prstGeom prst="roundRect">
            <a:avLst>
              <a:gd name="adj" fmla="val 4000"/>
            </a:avLst>
          </a:prstGeom>
          <a:solidFill>
            <a:srgbClr val="18241D"/>
          </a:solidFill>
          <a:ln w="9525">
            <a:solidFill>
              <a:srgbClr val="2A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A39"/>
                </a:solidFill>
                <a:latin typeface="Consolas"/>
              </a:rPr>
              <a:t>계속 맡았을 때의 그림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CBD8CF"/>
                </a:solidFill>
                <a:latin typeface="Malgun Gothic"/>
              </a:rPr>
              <a:t>지금 구조는 review_flag 검토 워크플로와 실발송 연동, 캠페인 자동 실행까지 그대로 확장할 수 있게 설계했습니다. 새 박람회마다 CSV만 교체하면 동일 파이프라인이 재현됩니다.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03120"/>
            <a:ext cx="5257800" cy="3291840"/>
          </a:xfrm>
          <a:prstGeom prst="roundRect">
            <a:avLst>
              <a:gd name="adj" fmla="val 4000"/>
            </a:avLst>
          </a:prstGeom>
          <a:solidFill>
            <a:srgbClr val="18241D"/>
          </a:solidFill>
          <a:ln w="9525">
            <a:solidFill>
              <a:srgbClr val="2A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6A39"/>
                </a:solidFill>
                <a:latin typeface="Consolas"/>
              </a:rPr>
              <a:t>이 문제와 나의 연결고리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80360"/>
            <a:ext cx="4617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CBD8CF"/>
                </a:solidFill>
                <a:latin typeface="Malgun Gothic"/>
              </a:rPr>
              <a:t>초등학교 교장·지역아동센터 센터장 같은 미세한 호칭 예외, 재현성 테스트에서 튀어나온 신규 직책값, 완전 중복 리드까지 — 데이터 안의 작은 예외들을 그때그때 넘기지 않고 고정된 규칙으로 못박아 재현 가능하게 만든 것이 이번 결과물의 근거입니다.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4655C"/>
                </a:solidFill>
                <a:latin typeface="Consolas"/>
              </a:rPr>
              <a:t>별첨 · 기술 &amp; 논리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 i="0">
                <a:solidFill>
                  <a:srgbClr val="132019"/>
                </a:solidFill>
                <a:latin typeface="Malgun Gothic"/>
              </a:rPr>
              <a:t>깊은 기술 검증을 원하는 분만 여기로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</a:tblGrid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커맨드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4655C"/>
                          </a:solidFill>
                          <a:latin typeface="Malgun Gothic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EEF3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/analyze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직책·기관유형·우선순위 분포, 이메일/상담메모 결측·모호, 완전 중복 탐지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/insight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직책별 소구점→제품 연결, CTA, review_flag 기준 수립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/generate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리드별 이메일 초안(제목·본문·review_flag) 생성 → output/email_drafts.csv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/review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32019"/>
                          </a:solidFill>
                          <a:latin typeface="Malgun Gothic"/>
                        </a:rPr>
                        <a:t>직책 차별화·개인화 4요소·본문 품질·예외 처리 자가 점검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645920"/>
            <a:ext cx="4023360" cy="2651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10512"/>
            <a:ext cx="3566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[05] 키즐링/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CLAUDE.md · problem.md · decisions.md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data/leads_sample.csv (50) ·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│  leads_dummy_100_test.csv (100)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context/company-info.md · industry-news.md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├ .claude/skills/ (analyze·insight·generate·review)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└ output/email_drafts(.csv/_test.csv) ·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54655C"/>
                </a:solidFill>
                <a:latin typeface="Consolas"/>
              </a:rPr>
              <a:t>   sample-basic/standard/challenge.html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115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 i="0">
                <a:solidFill>
                  <a:srgbClr val="54655C"/>
                </a:solidFill>
                <a:latin typeface="Malgun Gothic"/>
              </a:rPr>
              <a:t>전체 의사결정과 대안·이유 8건은 decisions.md에 기록되어 있습니다 (직책별 소구점 매핑, review_flag 기준, 이메일 결측·중복 처리, 호칭 커스터마이징, 우선순위×직책 CTA 강도 매트릭스, 신규 직책값 매핑, 재현성 테스트 결과, Challenge 세그먼트 선정 기준).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4655C"/>
                </a:solidFill>
                <a:latin typeface="Malgun Gothic"/>
              </a:rPr>
              <a:t>키즐링 × AX 해커톤 Problem 05 — 문제 설계 &amp; 참조 솔루션 · 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